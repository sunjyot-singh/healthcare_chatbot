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142851"/>
            <a:ext cx="5238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021258"/>
            <a:ext cx="5500687" cy="569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0" i="0" u="none">
                <a:solidFill>
                  <a:srgbClr val="0F172A"/>
                </a:solidFill>
                <a:latin typeface="Plus Jakarta Sans ExtraBold"/>
              </a:rPr>
              <a:t>Healthcare AI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667023"/>
            <a:ext cx="5500687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0" i="0" u="none">
                <a:solidFill>
                  <a:srgbClr val="0284C7"/>
                </a:solidFill>
                <a:latin typeface="Plus Jakarta Sans SemiBold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202209"/>
            <a:ext cx="5238750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64748B"/>
                </a:solidFill>
                <a:latin typeface="Inter"/>
              </a:rPr>
              <a:t>DEVELOPED BY SUNJYOT SINGH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0" y="1180951"/>
            <a:ext cx="5162550" cy="4495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4875" y="2796480"/>
            <a:ext cx="4905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F172A"/>
                </a:solidFill>
                <a:latin typeface="Inter SemiBold"/>
              </a:rPr>
              <a:t>Purpose: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Purpose-built to deliver general healthcare info (symptoms, lifestyle, first-aid) while strictly enforcing non-diagnostic boundaries.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3809851"/>
            <a:ext cx="4905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F172A"/>
                </a:solidFill>
                <a:latin typeface="Inter SemiBold"/>
              </a:rPr>
              <a:t>Architecture: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A streamlined pipeline bridging an intuitive Streamlit frontend with a highly orchestrated Python backend.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4823221"/>
            <a:ext cx="4905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F172A"/>
                </a:solidFill>
                <a:latin typeface="Inter SemiBold"/>
              </a:rPr>
              <a:t>Data Flow: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Incorporates a FAISS vector database for retrieval, an LLM context grader (C-RAG), and a generation model via Groq API.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39342"/>
            <a:ext cx="104775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52713"/>
            <a:ext cx="104775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866084"/>
            <a:ext cx="1047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27001"/>
            <a:ext cx="5334000" cy="42326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727001"/>
            <a:ext cx="5334000" cy="42326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117526"/>
            <a:ext cx="476250" cy="4476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81150" y="2231826"/>
            <a:ext cx="227028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lus Jakarta Sans"/>
              </a:rPr>
              <a:t>Tech Stack Infrastructure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025" y="2117526"/>
            <a:ext cx="476250" cy="4476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96150" y="2231826"/>
            <a:ext cx="233029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lus Jakarta Sans"/>
              </a:rPr>
              <a:t>LLM Selection &amp; Rationale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" y="2241351"/>
            <a:ext cx="2286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95400" y="2940397"/>
            <a:ext cx="42195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F172A"/>
                </a:solidFill>
                <a:latin typeface="Inter SemiBold"/>
              </a:rPr>
              <a:t>Frontend: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Streamlit powers a rapid, interactive, and user-friendly chat interface.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3679477"/>
            <a:ext cx="42195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F172A"/>
                </a:solidFill>
                <a:latin typeface="Inter SemiBold"/>
              </a:rPr>
              <a:t>Backend &amp; DB: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Python orchestration utilizing FAISS CPU for ultra-fast, local vector similarity search.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4418558"/>
            <a:ext cx="42195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F172A"/>
                </a:solidFill>
                <a:latin typeface="Inter SemiBold"/>
              </a:rPr>
              <a:t>Embeddings: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SentenceTransformers (all-MiniLM-L6-v2) for generating optimal vector representations.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0850" y="2241351"/>
            <a:ext cx="2286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10400" y="2803326"/>
            <a:ext cx="42195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F172A"/>
                </a:solidFill>
                <a:latin typeface="Inter SemiBold"/>
              </a:rPr>
              <a:t>Selection: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Groq API utilizing open-source models (gpt-oss-120b for answering, gpt-oss-20b for safety and grading).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400" y="3816697"/>
            <a:ext cx="42195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F172A"/>
                </a:solidFill>
                <a:latin typeface="Inter SemiBold"/>
              </a:rPr>
              <a:t>Rationale: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Groq guarantees ultra-fast inference crucial for maintaining seamless real-time chat responsiveness.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400" y="4830067"/>
            <a:ext cx="42195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F172A"/>
                </a:solidFill>
                <a:latin typeface="Inter SemiBold"/>
              </a:rPr>
              <a:t>Efficiency: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A dual-model approach establishes a highly cost-effective, low-latency safety pipeline.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571500"/>
            <a:ext cx="1142142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Tech Stack &amp; LLM Rationale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571500"/>
            <a:ext cx="57150" cy="4476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2950" y="571500"/>
            <a:ext cx="532066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Workflow &amp; Prompt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71500"/>
            <a:ext cx="57150" cy="4476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0"/>
            <a:ext cx="581025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625" y="2043112"/>
            <a:ext cx="50006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Workflow: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Query → Emergency Check → FAISS Retrieval → LLM Context Grader → Augmented Prompt → Generation → Safety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243262"/>
            <a:ext cx="50006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Prompt Strategy: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Strict persona enforcement (3-6 sentences), barring any alarming or diagnostic outputs natively.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4443412"/>
            <a:ext cx="50006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Dynamic Customization: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User messages dynamically receive retrieved context and explicit "do not diagnose" flags if analyzed for medical-seeking intent.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995487"/>
            <a:ext cx="1143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1" i="0" u="none">
                <a:solidFill>
                  <a:srgbClr val="0284C7"/>
                </a:solidFill>
                <a:latin typeface="Inter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195637"/>
            <a:ext cx="1143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1" i="0" u="none">
                <a:solidFill>
                  <a:srgbClr val="0284C7"/>
                </a:solidFill>
                <a:latin typeface="Inter"/>
              </a:rP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395787"/>
            <a:ext cx="1143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1" i="0" u="none">
                <a:solidFill>
                  <a:srgbClr val="0284C7"/>
                </a:solidFill>
                <a:latin typeface="Inter"/>
              </a:rPr>
              <a:t>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09948"/>
            <a:ext cx="3492549" cy="326677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209948"/>
            <a:ext cx="3492549" cy="326677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09948"/>
            <a:ext cx="3492549" cy="326677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600473"/>
            <a:ext cx="619125" cy="619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457723"/>
            <a:ext cx="30470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Medical Knowledge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867298"/>
            <a:ext cx="2901999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RAG integration utilizes a highly filtered MedQuAD dataset, chunked strategically to ensure high-precision retrieval for medically relevant context.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600473"/>
            <a:ext cx="619125" cy="619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457723"/>
            <a:ext cx="30470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Separated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867298"/>
            <a:ext cx="2901999" cy="1218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UI display history is structurally isolated from the LLM's plain-text history. Old context blocks are stripped systematically to prevent context bloat and hallucinations.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600473"/>
            <a:ext cx="619125" cy="6191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3374" y="3457723"/>
            <a:ext cx="30470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Multi-Layered Guardrails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867298"/>
            <a:ext cx="2901999" cy="1218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Features hardcoded emergency keyword short-circuits, an active LLM relevance grader to verify FAISS matches, and a post-generation diagnostic response swap.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987" y="2757636"/>
            <a:ext cx="2667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3187" y="2757636"/>
            <a:ext cx="3429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0536" y="2757636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2950" y="571500"/>
            <a:ext cx="1142142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Advanced Components: RAG &amp; Safety Guardrails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571500"/>
            <a:ext cx="57150" cy="4476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21222"/>
            <a:ext cx="5334000" cy="384408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21222"/>
            <a:ext cx="5334000" cy="38440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311747"/>
            <a:ext cx="478059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lus Jakarta Sans"/>
              </a:rPr>
              <a:t>1. Vector Search Inaccuracy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962025" y="2673697"/>
            <a:ext cx="4552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7025" y="2311747"/>
            <a:ext cx="478059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lus Jakarta Sans"/>
              </a:rPr>
              <a:t>2. Preventing Diagnoses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7025" y="2673697"/>
            <a:ext cx="4552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5400" y="3026122"/>
            <a:ext cx="42195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F172A"/>
                </a:solidFill>
                <a:latin typeface="Inter SemiBold"/>
              </a:rPr>
              <a:t>Challenge: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Standard cosine similarity thresholds frequently pull irrelevant medical conditions due to extreme vocabulary overlap.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4087117"/>
            <a:ext cx="421957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F172A"/>
                </a:solidFill>
                <a:latin typeface="Inter SemiBold"/>
              </a:rPr>
              <a:t>Solution: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Deployed a Corrective RAG (C-RAG) pattern. A lightweight LLM actively grades each FAISS chunk for relevance before it ever enters the final prompt.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0400" y="3026122"/>
            <a:ext cx="42195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F172A"/>
                </a:solidFill>
                <a:latin typeface="Inter SemiBold"/>
              </a:rPr>
              <a:t>Challenge: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Large language models naturally attempt to assist users, which inherently risks crossing the line into unauthorized medical advice.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400" y="4087117"/>
            <a:ext cx="421957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F172A"/>
                </a:solidFill>
                <a:latin typeface="Inter SemiBold"/>
              </a:rPr>
              <a:t>Solution: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Constructed a layered defense mechanism comprising pre-flight pattern matching, strict system prompt constraints, and an independent LLM safety review block.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3068984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4129980"/>
            <a:ext cx="17145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025" y="3068984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025" y="4129980"/>
            <a:ext cx="171450" cy="1809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2950" y="571500"/>
            <a:ext cx="1142142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Challenges &amp; Solutions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571500"/>
            <a:ext cx="57150" cy="4476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431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Inter</vt:lpstr>
      <vt:lpstr>Inter SemiBold</vt:lpstr>
      <vt:lpstr>Plus Jakarta Sans</vt:lpstr>
      <vt:lpstr>Plus Jakarta Sans ExtraBold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Sunjyot Singh</cp:lastModifiedBy>
  <cp:revision>2</cp:revision>
  <dcterms:created xsi:type="dcterms:W3CDTF">2013-01-27T09:14:16Z</dcterms:created>
  <dcterms:modified xsi:type="dcterms:W3CDTF">2026-07-29T16:27:44Z</dcterms:modified>
  <cp:category/>
</cp:coreProperties>
</file>